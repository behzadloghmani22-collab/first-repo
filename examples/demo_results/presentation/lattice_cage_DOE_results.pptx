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0B0B"/>
                </a:solidFill>
              </a:defRPr>
            </a:pPr>
            <a:r>
              <a:t>Lumbar fusion cage - lattice DOE and optimisation</a:t>
            </a:r>
          </a:p>
          <a:p>
            <a:pPr>
              <a:defRPr sz="1800">
                <a:solidFill>
                  <a:srgbClr val="52514E"/>
                </a:solidFill>
              </a:defRPr>
            </a:pPr>
            <a:r>
              <a:t>Design of experiments and optimisation of 4 lattice variants (fusion_cage_diamond, fusion_cage_gyroid, fusion_cage_kelvin, fusion_cage_octet)</a:t>
            </a:r>
            <a:br/>
            <a:r>
              <a:t>nTopCL campaign, 2026-09-20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120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B6834"/>
                </a:solidFill>
              </a:defRPr>
            </a:pPr>
            <a:r>
              <a:t>SURROGATE DEMO - figures generated from the mock model, not from nTop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What 'optimal' means</a:t>
            </a:r>
          </a:p>
          <a:p>
            <a:pPr>
              <a:defRPr sz="1300">
                <a:solidFill>
                  <a:srgbClr val="52514E"/>
                </a:solidFill>
              </a:defRPr>
            </a:pPr>
            <a:r>
              <a:t>Weighted geometric mean of clinical desirabilities; any hard-limit violation scores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36576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Apparent modulus 2.0-5.0 GPa (bone/PEEK-like) - weight 0.30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Porosity 60%-75% - weight 0.22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Pore size 500-800 um - weight 0.22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Yield SF &gt;= 2.0 at 2000 N (hard); fatigue SF &gt;= 1.0 at 1200 N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Strut &gt;= 0.3 mm (LPBF); mass and surface area as tie-breakers</a:t>
            </a:r>
          </a:p>
        </p:txBody>
      </p:sp>
      <p:pic>
        <p:nvPicPr>
          <p:cNvPr id="4" name="Picture 3" descr="fig00_objective_defi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995921"/>
            <a:ext cx="7619694" cy="36433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Method: sequential DOE driven through nTopCL</a:t>
            </a:r>
          </a:p>
          <a:p>
            <a:pPr>
              <a:defRPr sz="1300">
                <a:solidFill>
                  <a:srgbClr val="52514E"/>
                </a:solidFill>
              </a:defRPr>
            </a:pPr>
            <a:r>
              <a:t>Every run is one ntopcl.exe call with a JSON input file; outputs are parsed automatically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365760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Cell Size 1.5-4.0 mm, Strut Thickness 0.3-0.9 mm, Shell Thickness 0.5-1.5 mm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Screening: full_factorial + 3 centre points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Response surface: ccd_face; 10 Latin-hypercube runs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Adaptive infill: 2 x 3 runs (exploit / explore / diversify)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Surrogates: quadratic RSM vs thin-plate RBF, chosen by leave-one-out error</a:t>
            </a:r>
          </a:p>
          <a:p>
            <a:pPr>
              <a:spcAft>
                <a:spcPts val="600"/>
              </a:spcAft>
              <a:defRPr sz="1400">
                <a:solidFill>
                  <a:srgbClr val="0B0B0B"/>
                </a:solidFill>
              </a:defRPr>
            </a:pPr>
            <a:r>
              <a:t>• Verification: top 3 predicted designs re-run in nTop</a:t>
            </a:r>
          </a:p>
        </p:txBody>
      </p:sp>
      <p:pic>
        <p:nvPicPr>
          <p:cNvPr id="4" name="Picture 3" descr="fig01_ru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054590"/>
            <a:ext cx="7619695" cy="35260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Ranking of lattice types</a:t>
            </a:r>
          </a:p>
        </p:txBody>
      </p:sp>
      <p:pic>
        <p:nvPicPr>
          <p:cNvPr id="3" name="Picture 2" descr="fig02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44588"/>
            <a:ext cx="11277295" cy="41460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Clinical metrics of the recommended designs</a:t>
            </a:r>
          </a:p>
        </p:txBody>
      </p:sp>
      <p:pic>
        <p:nvPicPr>
          <p:cNvPr id="3" name="Picture 2" descr="fig03_compar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51" y="1143000"/>
            <a:ext cx="1116519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Desirability profile and ranking robustness</a:t>
            </a:r>
          </a:p>
        </p:txBody>
      </p:sp>
      <p:pic>
        <p:nvPicPr>
          <p:cNvPr id="3" name="Picture 2" descr="fig04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78474"/>
            <a:ext cx="5547207" cy="4678291"/>
          </a:xfrm>
          <a:prstGeom prst="rect">
            <a:avLst/>
          </a:prstGeom>
        </p:spPr>
      </p:pic>
      <p:pic>
        <p:nvPicPr>
          <p:cNvPr id="4" name="Picture 3" descr="fig05_weight_robus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2535312"/>
            <a:ext cx="5547207" cy="25646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Trade-off fronts of all lattice types</a:t>
            </a:r>
          </a:p>
          <a:p>
            <a:pPr>
              <a:defRPr sz="1300">
                <a:solidFill>
                  <a:srgbClr val="52514E"/>
                </a:solidFill>
              </a:defRPr>
            </a:pPr>
            <a:r>
              <a:t>stiffness matching vs fatigue strength, porosity vs fatigue strength (feasible designs only)</a:t>
            </a:r>
          </a:p>
        </p:txBody>
      </p:sp>
      <p:pic>
        <p:nvPicPr>
          <p:cNvPr id="3" name="Picture 2" descr="fig06_pareto_all_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0955"/>
            <a:ext cx="11277295" cy="47133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Recommended design per lattice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774"/>
                <a:gridCol w="939774"/>
                <a:gridCol w="939774"/>
                <a:gridCol w="939774"/>
                <a:gridCol w="939774"/>
                <a:gridCol w="939774"/>
                <a:gridCol w="939774"/>
                <a:gridCol w="939774"/>
                <a:gridCol w="939774"/>
                <a:gridCol w="939774"/>
                <a:gridCol w="939774"/>
                <a:gridCol w="939781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D_recommended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Cell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Strut 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Shell 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E_app_GPa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porosity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pore_um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sf_yield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sf_fatigue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mass_g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fusion_cage_diamond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8.73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fusion_cage_kelvin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8.94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fusion_cage_octet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fusion_cage_gyroid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12.1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Recommended factor settings</a:t>
            </a:r>
          </a:p>
        </p:txBody>
      </p:sp>
      <p:pic>
        <p:nvPicPr>
          <p:cNvPr id="3" name="Picture 2" descr="fig07_optimum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32" y="1143000"/>
            <a:ext cx="989243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Surrogate vs nTop verification</a:t>
            </a:r>
          </a:p>
        </p:txBody>
      </p:sp>
      <p:pic>
        <p:nvPicPr>
          <p:cNvPr id="3" name="Picture 2" descr="fig08_predicted_vs_ver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689" y="1143000"/>
            <a:ext cx="635431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fusion_cage_diamond: response surfaces</a:t>
            </a:r>
          </a:p>
          <a:p>
            <a:pPr>
              <a:defRPr sz="1300">
                <a:solidFill>
                  <a:srgbClr val="52514E"/>
                </a:solidFill>
              </a:defRPr>
            </a:pPr>
            <a:r>
              <a:t>Cell Size = 1.92, Strut Thickness = 0.45, Shell Thickness = 0.5  |  D = 0.979</a:t>
            </a:r>
          </a:p>
        </p:txBody>
      </p:sp>
      <p:pic>
        <p:nvPicPr>
          <p:cNvPr id="3" name="Picture 2" descr="fusion_cage_diamond_fig13_response_su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683" y="1143000"/>
            <a:ext cx="9174329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fusion_cage_diamond: main effects and sensitivity</a:t>
            </a:r>
          </a:p>
          <a:p>
            <a:pPr>
              <a:defRPr sz="1300">
                <a:solidFill>
                  <a:srgbClr val="52514E"/>
                </a:solidFill>
              </a:defRPr>
            </a:pPr>
            <a:r>
              <a:t>Cell Size = 1.92, Strut Thickness = 0.45, Shell Thickness = 0.5  |  D = 0.979</a:t>
            </a:r>
          </a:p>
        </p:txBody>
      </p:sp>
      <p:pic>
        <p:nvPicPr>
          <p:cNvPr id="3" name="Picture 2" descr="fusion_cage_diamond_fig11_main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49" y="1143000"/>
            <a:ext cx="5198109" cy="5349240"/>
          </a:xfrm>
          <a:prstGeom prst="rect">
            <a:avLst/>
          </a:prstGeom>
        </p:spPr>
      </p:pic>
      <p:pic>
        <p:nvPicPr>
          <p:cNvPr id="4" name="Picture 3" descr="fusion_cage_diamond_fig15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2079766"/>
            <a:ext cx="5547207" cy="34757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fusion_cage_diamond: trade-off and interactions</a:t>
            </a:r>
          </a:p>
          <a:p>
            <a:pPr>
              <a:defRPr sz="1300">
                <a:solidFill>
                  <a:srgbClr val="52514E"/>
                </a:solidFill>
              </a:defRPr>
            </a:pPr>
            <a:r>
              <a:t>Cell Size = 1.92, Strut Thickness = 0.45, Shell Thickness = 0.5  |  D = 0.979</a:t>
            </a:r>
          </a:p>
        </p:txBody>
      </p:sp>
      <p:pic>
        <p:nvPicPr>
          <p:cNvPr id="3" name="Picture 2" descr="fusion_cage_diamond_fig14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97853"/>
            <a:ext cx="5547207" cy="2239533"/>
          </a:xfrm>
          <a:prstGeom prst="rect">
            <a:avLst/>
          </a:prstGeom>
        </p:spPr>
      </p:pic>
      <p:pic>
        <p:nvPicPr>
          <p:cNvPr id="4" name="Picture 3" descr="fusion_cage_diamond_fig12_inter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2253385"/>
            <a:ext cx="5547207" cy="31284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fusion_cage_gyroid: response surfaces</a:t>
            </a:r>
          </a:p>
          <a:p>
            <a:pPr>
              <a:defRPr sz="1300">
                <a:solidFill>
                  <a:srgbClr val="52514E"/>
                </a:solidFill>
              </a:defRPr>
            </a:pPr>
            <a:r>
              <a:t>Cell Size = 2.05, Strut Thickness = 0.328, Shell Thickness = 0.5  |  D = 0.724</a:t>
            </a:r>
          </a:p>
        </p:txBody>
      </p:sp>
      <p:pic>
        <p:nvPicPr>
          <p:cNvPr id="3" name="Picture 2" descr="fusion_cage_gyroid_fig13_response_su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625" y="1143000"/>
            <a:ext cx="9168444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fusion_cage_gyroid: main effects and sensitivity</a:t>
            </a:r>
          </a:p>
          <a:p>
            <a:pPr>
              <a:defRPr sz="1300">
                <a:solidFill>
                  <a:srgbClr val="52514E"/>
                </a:solidFill>
              </a:defRPr>
            </a:pPr>
            <a:r>
              <a:t>Cell Size = 2.05, Strut Thickness = 0.328, Shell Thickness = 0.5  |  D = 0.724</a:t>
            </a:r>
          </a:p>
        </p:txBody>
      </p:sp>
      <p:pic>
        <p:nvPicPr>
          <p:cNvPr id="3" name="Picture 2" descr="fusion_cage_gyroid_fig11_main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49" y="1143000"/>
            <a:ext cx="5198109" cy="5349240"/>
          </a:xfrm>
          <a:prstGeom prst="rect">
            <a:avLst/>
          </a:prstGeom>
        </p:spPr>
      </p:pic>
      <p:pic>
        <p:nvPicPr>
          <p:cNvPr id="4" name="Picture 3" descr="fusion_cage_gyroid_fig15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2079766"/>
            <a:ext cx="5547207" cy="34757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fusion_cage_gyroid: trade-off and interactions</a:t>
            </a:r>
          </a:p>
          <a:p>
            <a:pPr>
              <a:defRPr sz="1300">
                <a:solidFill>
                  <a:srgbClr val="52514E"/>
                </a:solidFill>
              </a:defRPr>
            </a:pPr>
            <a:r>
              <a:t>Cell Size = 2.05, Strut Thickness = 0.328, Shell Thickness = 0.5  |  D = 0.724</a:t>
            </a:r>
          </a:p>
        </p:txBody>
      </p:sp>
      <p:pic>
        <p:nvPicPr>
          <p:cNvPr id="3" name="Picture 2" descr="fusion_cage_gyroid_fig14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99289"/>
            <a:ext cx="5547207" cy="2236662"/>
          </a:xfrm>
          <a:prstGeom prst="rect">
            <a:avLst/>
          </a:prstGeom>
        </p:spPr>
      </p:pic>
      <p:pic>
        <p:nvPicPr>
          <p:cNvPr id="4" name="Picture 3" descr="fusion_cage_gyroid_fig12_inter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2253385"/>
            <a:ext cx="5547207" cy="31284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fusion_cage_kelvin: response surfaces</a:t>
            </a:r>
          </a:p>
          <a:p>
            <a:pPr>
              <a:defRPr sz="1300">
                <a:solidFill>
                  <a:srgbClr val="52514E"/>
                </a:solidFill>
              </a:defRPr>
            </a:pPr>
            <a:r>
              <a:t>Cell Size = 2.08, Strut Thickness = 0.45, Shell Thickness = 0.5  |  D = 0.975</a:t>
            </a:r>
          </a:p>
        </p:txBody>
      </p:sp>
      <p:pic>
        <p:nvPicPr>
          <p:cNvPr id="3" name="Picture 2" descr="fusion_cage_kelvin_fig13_response_su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683" y="1143000"/>
            <a:ext cx="9174329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fusion_cage_kelvin: main effects and sensitivity</a:t>
            </a:r>
          </a:p>
          <a:p>
            <a:pPr>
              <a:defRPr sz="1300">
                <a:solidFill>
                  <a:srgbClr val="52514E"/>
                </a:solidFill>
              </a:defRPr>
            </a:pPr>
            <a:r>
              <a:t>Cell Size = 2.08, Strut Thickness = 0.45, Shell Thickness = 0.5  |  D = 0.975</a:t>
            </a:r>
          </a:p>
        </p:txBody>
      </p:sp>
      <p:pic>
        <p:nvPicPr>
          <p:cNvPr id="3" name="Picture 2" descr="fusion_cage_kelvin_fig11_main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49" y="1143000"/>
            <a:ext cx="5198109" cy="5349240"/>
          </a:xfrm>
          <a:prstGeom prst="rect">
            <a:avLst/>
          </a:prstGeom>
        </p:spPr>
      </p:pic>
      <p:pic>
        <p:nvPicPr>
          <p:cNvPr id="4" name="Picture 3" descr="fusion_cage_kelvin_fig15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2079766"/>
            <a:ext cx="5547207" cy="34757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fusion_cage_kelvin: trade-off and interactions</a:t>
            </a:r>
          </a:p>
          <a:p>
            <a:pPr>
              <a:defRPr sz="1300">
                <a:solidFill>
                  <a:srgbClr val="52514E"/>
                </a:solidFill>
              </a:defRPr>
            </a:pPr>
            <a:r>
              <a:t>Cell Size = 2.08, Strut Thickness = 0.45, Shell Thickness = 0.5  |  D = 0.975</a:t>
            </a:r>
          </a:p>
        </p:txBody>
      </p:sp>
      <p:pic>
        <p:nvPicPr>
          <p:cNvPr id="3" name="Picture 2" descr="fusion_cage_kelvin_fig14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99289"/>
            <a:ext cx="5547207" cy="2236662"/>
          </a:xfrm>
          <a:prstGeom prst="rect">
            <a:avLst/>
          </a:prstGeom>
        </p:spPr>
      </p:pic>
      <p:pic>
        <p:nvPicPr>
          <p:cNvPr id="4" name="Picture 3" descr="fusion_cage_kelvin_fig12_inter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2253385"/>
            <a:ext cx="5547207" cy="312846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fusion_cage_octet: response surfaces</a:t>
            </a:r>
          </a:p>
          <a:p>
            <a:pPr>
              <a:defRPr sz="1300">
                <a:solidFill>
                  <a:srgbClr val="52514E"/>
                </a:solidFill>
              </a:defRPr>
            </a:pPr>
            <a:r>
              <a:t>Cell Size = 2.27, Strut Thickness = 0.45, Shell Thickness = 0.5  |  D = 0.962</a:t>
            </a:r>
          </a:p>
        </p:txBody>
      </p:sp>
      <p:pic>
        <p:nvPicPr>
          <p:cNvPr id="3" name="Picture 2" descr="fusion_cage_octet_fig13_response_su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683" y="1143000"/>
            <a:ext cx="9174329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fusion_cage_octet: main effects and sensitivity</a:t>
            </a:r>
          </a:p>
          <a:p>
            <a:pPr>
              <a:defRPr sz="1300">
                <a:solidFill>
                  <a:srgbClr val="52514E"/>
                </a:solidFill>
              </a:defRPr>
            </a:pPr>
            <a:r>
              <a:t>Cell Size = 2.27, Strut Thickness = 0.45, Shell Thickness = 0.5  |  D = 0.962</a:t>
            </a:r>
          </a:p>
        </p:txBody>
      </p:sp>
      <p:pic>
        <p:nvPicPr>
          <p:cNvPr id="3" name="Picture 2" descr="fusion_cage_octet_fig11_main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49" y="1143000"/>
            <a:ext cx="5198109" cy="5349240"/>
          </a:xfrm>
          <a:prstGeom prst="rect">
            <a:avLst/>
          </a:prstGeom>
        </p:spPr>
      </p:pic>
      <p:pic>
        <p:nvPicPr>
          <p:cNvPr id="4" name="Picture 3" descr="fusion_cage_octet_fig15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2079766"/>
            <a:ext cx="5547207" cy="34757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fusion_cage_octet: trade-off and interactions</a:t>
            </a:r>
          </a:p>
          <a:p>
            <a:pPr>
              <a:defRPr sz="1300">
                <a:solidFill>
                  <a:srgbClr val="52514E"/>
                </a:solidFill>
              </a:defRPr>
            </a:pPr>
            <a:r>
              <a:t>Cell Size = 2.27, Strut Thickness = 0.45, Shell Thickness = 0.5  |  D = 0.962</a:t>
            </a:r>
          </a:p>
        </p:txBody>
      </p:sp>
      <p:pic>
        <p:nvPicPr>
          <p:cNvPr id="3" name="Picture 2" descr="fusion_cage_octet_fig14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99289"/>
            <a:ext cx="5547207" cy="2236662"/>
          </a:xfrm>
          <a:prstGeom prst="rect">
            <a:avLst/>
          </a:prstGeom>
        </p:spPr>
      </p:pic>
      <p:pic>
        <p:nvPicPr>
          <p:cNvPr id="4" name="Picture 3" descr="fusion_cage_octet_fig12_inter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2253385"/>
            <a:ext cx="5547207" cy="312846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• fusion_cage_diamond (diamond) ranks first with D = 0.979 (verified)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• Settings: Cell Size = 1.92 mm, Strut Thickness = 0.45 mm, Shell Thickness = 0.5 mm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• E_app = 5.18 GPa, porosity = 0.67, pore = 800 um, SF yield = 9.3, SF fatigue = 5.7, mass = 8.7 g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• Ranking robustness: see the weight-perturbation slide - a robust winner keeps rank 1 in most perturbations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• Next steps: confirm with a refined FE mesh and an ASTM F2077 compression / fatigue test of the printed design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Appendix - fusion_cage_diamond: sampled designs and convergence</a:t>
            </a:r>
          </a:p>
        </p:txBody>
      </p:sp>
      <p:pic>
        <p:nvPicPr>
          <p:cNvPr id="3" name="Picture 2" descr="fusion_cage_diamond_fig10_design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46800"/>
            <a:ext cx="5547207" cy="1741640"/>
          </a:xfrm>
          <a:prstGeom prst="rect">
            <a:avLst/>
          </a:prstGeom>
        </p:spPr>
      </p:pic>
      <p:pic>
        <p:nvPicPr>
          <p:cNvPr id="4" name="Picture 3" descr="fusion_cage_diamond_fig16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2399037"/>
            <a:ext cx="5547207" cy="28371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Appendix - fusion_cage_diamond: surrogate fit quality</a:t>
            </a:r>
          </a:p>
        </p:txBody>
      </p:sp>
      <p:pic>
        <p:nvPicPr>
          <p:cNvPr id="3" name="Picture 2" descr="fusion_cage_diamond_fig17_model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769" y="1143000"/>
            <a:ext cx="8904157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Appendix - fusion_cage_gyroid: sampled designs and convergence</a:t>
            </a:r>
          </a:p>
        </p:txBody>
      </p:sp>
      <p:pic>
        <p:nvPicPr>
          <p:cNvPr id="3" name="Picture 2" descr="fusion_cage_gyroid_fig10_design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46800"/>
            <a:ext cx="5547207" cy="1741640"/>
          </a:xfrm>
          <a:prstGeom prst="rect">
            <a:avLst/>
          </a:prstGeom>
        </p:spPr>
      </p:pic>
      <p:pic>
        <p:nvPicPr>
          <p:cNvPr id="4" name="Picture 3" descr="fusion_cage_gyroid_fig16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2399037"/>
            <a:ext cx="5547207" cy="283716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Appendix - fusion_cage_gyroid: surrogate fit quality</a:t>
            </a:r>
          </a:p>
        </p:txBody>
      </p:sp>
      <p:pic>
        <p:nvPicPr>
          <p:cNvPr id="3" name="Picture 2" descr="fusion_cage_gyroid_fig17_model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023" y="1143000"/>
            <a:ext cx="8917648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Appendix - fusion_cage_kelvin: sampled designs and convergence</a:t>
            </a:r>
          </a:p>
        </p:txBody>
      </p:sp>
      <p:pic>
        <p:nvPicPr>
          <p:cNvPr id="3" name="Picture 2" descr="fusion_cage_kelvin_fig10_design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46800"/>
            <a:ext cx="5547207" cy="1741640"/>
          </a:xfrm>
          <a:prstGeom prst="rect">
            <a:avLst/>
          </a:prstGeom>
        </p:spPr>
      </p:pic>
      <p:pic>
        <p:nvPicPr>
          <p:cNvPr id="4" name="Picture 3" descr="fusion_cage_kelvin_fig16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2399037"/>
            <a:ext cx="5547207" cy="28371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Appendix - fusion_cage_kelvin: surrogate fit quality</a:t>
            </a:r>
          </a:p>
        </p:txBody>
      </p:sp>
      <p:pic>
        <p:nvPicPr>
          <p:cNvPr id="3" name="Picture 2" descr="fusion_cage_kelvin_fig17_model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396" y="1143000"/>
            <a:ext cx="891090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Appendix - fusion_cage_octet: sampled designs and convergence</a:t>
            </a:r>
          </a:p>
        </p:txBody>
      </p:sp>
      <p:pic>
        <p:nvPicPr>
          <p:cNvPr id="3" name="Picture 2" descr="fusion_cage_octet_fig10_design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46800"/>
            <a:ext cx="5547207" cy="1741640"/>
          </a:xfrm>
          <a:prstGeom prst="rect">
            <a:avLst/>
          </a:prstGeom>
        </p:spPr>
      </p:pic>
      <p:pic>
        <p:nvPicPr>
          <p:cNvPr id="4" name="Picture 3" descr="fusion_cage_octet_fig16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2399037"/>
            <a:ext cx="5547207" cy="283716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Appendix - fusion_cage_octet: surrogate fit quality</a:t>
            </a:r>
          </a:p>
        </p:txBody>
      </p:sp>
      <p:pic>
        <p:nvPicPr>
          <p:cNvPr id="3" name="Picture 2" descr="fusion_cage_octet_fig17_model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396" y="1143000"/>
            <a:ext cx="8910902" cy="5349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